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548640"/>
            <a:ext cx="2926080" cy="29260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937760"/>
            <a:ext cx="1645920" cy="1645920"/>
          </a:xfrm>
          <a:prstGeom prst="ellipse">
            <a:avLst/>
          </a:prstGeom>
          <a:solidFill>
            <a:srgbClr val="F4B94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Analytics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Report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Statistical Validation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645920" cy="3657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 – 4  ·  FY 2025  ·  1,000 Orders  ·  947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Four Acts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43560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orders · 947 customers · 5 categories — cleaned, structured, and validated (Task 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000000">
                <a:alpha val="12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1435608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4173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18288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Electronics dominance, city-level skew, and seasonal peaks (Task 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000000">
                <a:alpha val="1200000000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63016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630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6118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Deep-Dive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exposed a 5.5% repeat rate — but repeat customers spend 2.26× more (Task 3)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42900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FFF8E7"/>
          </a:solidFill>
          <a:ln/>
          <a:effectLst>
            <a:outerShdw sx="100000" sy="100000" kx="0" ky="0" algn="bl" rotWithShape="0" blurRad="208115712800000000" dist="78043392300000000" dir="1.1664e+21">
              <a:srgbClr val="000000">
                <a:alpha val="120000000000000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3630168"/>
            <a:ext cx="640080" cy="64008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3630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36118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402336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 confirm one actionable truth: retention is the highest-ROI lever (Task 4)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Snapshot — FY 2025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derived from the cleaned dataset · 1,000 transactions · ₹13.94 Crore total revenue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4306955256e+21" dist="991151082210000000000" dir="6.9984e+25">
              <a:srgbClr val="000000">
                <a:alpha val="1.2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43560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7512" y="162763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₹13.94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7512" y="20848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all categories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01568" y="13258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3566983317512e+25" dist="1.2587618744067e+25" dir="4.19904e+30">
              <a:srgbClr val="000000">
                <a:alpha val="1.2e+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43560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62763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20848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 unique customers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0216" y="132588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630068813240236e+29" dist="1.598627580496509e+29" dir="2.519424e+35">
              <a:srgbClr val="000000">
                <a:alpha val="1.2e+3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143560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64808" y="162763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64808" y="208483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₹1.32L – ₹1.46L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98864" y="132588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1401873928151e+33" dist="2.0302570272305663e+33" dir="1.5116544e+40">
              <a:srgbClr val="000000">
                <a:alpha val="1.1999999999999999e+3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63456" y="1435608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63456" y="1627632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5,435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63456" y="2084832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5.4 units per order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5146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000000">
                <a:alpha val="1.1999999999999999e+4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" y="262432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" y="281635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67512" y="327355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 of total revenue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5146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732270824587148e+41" dist="3.2746015592201804e+41" dir="5.44195584e+49">
              <a:srgbClr val="000000">
                <a:alpha val="1.2e+4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262432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281635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Patna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566160" y="327355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₹2.08 Cr — #1 revenue city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0216" y="251460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000000">
                <a:alpha val="1.2e+54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64808" y="2624328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64808" y="2816352"/>
            <a:ext cx="2414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64808" y="3273552"/>
            <a:ext cx="2414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₹1.31 Cr (Aug-Sep weakest)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98864" y="2514600"/>
            <a:ext cx="2468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000000">
                <a:alpha val="1.2e+59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63456" y="2624328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63456" y="2816352"/>
            <a:ext cx="21396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9363456" y="3273552"/>
            <a:ext cx="21396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of 947 customers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749040"/>
            <a:ext cx="11155680" cy="1325880"/>
          </a:xfrm>
          <a:prstGeom prst="roundRect">
            <a:avLst>
              <a:gd name="adj" fmla="val 4138"/>
            </a:avLst>
          </a:prstGeom>
          <a:solidFill>
            <a:srgbClr val="FFF8E7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000000">
                <a:alpha val="1.2000000000000001e+64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3886200"/>
            <a:ext cx="640080" cy="64008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08760" y="385876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tension: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08760" y="4160520"/>
            <a:ext cx="10058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94.5% of customers buy exactly once — yet repeat customers generate 2.26× higher lifetime value. The business is leaving significant revenue on the table by not investing in retention.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Revenue Comes From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1536192"/>
            <a:ext cx="6858000" cy="38404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9208008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₹50.78 Cr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359152"/>
            <a:ext cx="3380381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5730389" y="23591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₹25.03 Cr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40280" y="3182112"/>
            <a:ext cx="3002232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5352240" y="31821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₹22.23 Cr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4005072"/>
            <a:ext cx="2906344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256352" y="40050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₹21.52 Cr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40280" y="4828032"/>
            <a:ext cx="2679455" cy="3840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463" y="48280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₹19.84 Cr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64040" y="141732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000000">
                <a:alpha val="1.2e+6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464040" y="15270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464040" y="203911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share of total revenue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64040" y="269748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000000">
                <a:alpha val="1.2e+7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64040" y="28072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2.04×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464040" y="331927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vs Fashion revenue ratio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64040" y="3977640"/>
            <a:ext cx="2331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000000">
                <a:alpha val="1.2000000000000001e+7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464040" y="40873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464040" y="459943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orders (most of any category)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 &amp; Geography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58521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000000">
                <a:alpha val="1.2000000000000002e+8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4447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 Mn)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3964537"/>
            <a:ext cx="387096" cy="516023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19200" y="3173675"/>
            <a:ext cx="387096" cy="1306885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61160" y="2304288"/>
            <a:ext cx="387096" cy="21762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166116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2775440"/>
            <a:ext cx="387096" cy="1705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45080" y="3470949"/>
            <a:ext cx="387096" cy="1009611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254508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87040" y="2388422"/>
            <a:ext cx="387096" cy="209213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298704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29000" y="3039060"/>
            <a:ext cx="387096" cy="1441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870960" y="4329118"/>
            <a:ext cx="387096" cy="15144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387096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12920" y="4480560"/>
            <a:ext cx="387096" cy="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4" name="Text 22"/>
          <p:cNvSpPr/>
          <p:nvPr/>
        </p:nvSpPr>
        <p:spPr>
          <a:xfrm>
            <a:off x="431292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618389"/>
            <a:ext cx="387096" cy="1862171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96840" y="2545473"/>
            <a:ext cx="387096" cy="1935087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519684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38800" y="2730568"/>
            <a:ext cx="387096" cy="17499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5638800" y="4526280"/>
            <a:ext cx="387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" y="4663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Peak: March ₹13.06M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4663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Dip: Aug–Sep ~₹9.3M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1298448"/>
            <a:ext cx="562356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000000">
                <a:alpha val="1.2000000000000002e+8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675120" y="14447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(₹ Cr)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75120" y="190195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19019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326880" y="1947672"/>
            <a:ext cx="2926080" cy="2286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8" name="Text 36"/>
          <p:cNvSpPr/>
          <p:nvPr/>
        </p:nvSpPr>
        <p:spPr>
          <a:xfrm>
            <a:off x="12326112" y="190195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₹2.08Cr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675120" y="228600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22860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326880" y="2331720"/>
            <a:ext cx="2658794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2" name="Text 40"/>
          <p:cNvSpPr/>
          <p:nvPr/>
        </p:nvSpPr>
        <p:spPr>
          <a:xfrm>
            <a:off x="12058826" y="228600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₹1.89Cr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267004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95160" y="26700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26880" y="2715768"/>
            <a:ext cx="2644726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6" name="Text 44"/>
          <p:cNvSpPr/>
          <p:nvPr/>
        </p:nvSpPr>
        <p:spPr>
          <a:xfrm>
            <a:off x="12044758" y="267004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₹1.88Cr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75120" y="3054096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95160" y="30540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26880" y="3099816"/>
            <a:ext cx="2644726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0" name="Text 48"/>
          <p:cNvSpPr/>
          <p:nvPr/>
        </p:nvSpPr>
        <p:spPr>
          <a:xfrm>
            <a:off x="12044758" y="3054096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₹1.88Cr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675120" y="3438144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995160" y="343814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326880" y="3483864"/>
            <a:ext cx="2419643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4" name="Text 52"/>
          <p:cNvSpPr/>
          <p:nvPr/>
        </p:nvSpPr>
        <p:spPr>
          <a:xfrm>
            <a:off x="11819675" y="343814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₹1.72Cr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75120" y="382219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95160" y="3822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326880" y="3867912"/>
            <a:ext cx="2264898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8" name="Text 56"/>
          <p:cNvSpPr/>
          <p:nvPr/>
        </p:nvSpPr>
        <p:spPr>
          <a:xfrm>
            <a:off x="11664930" y="382219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₹1.61Cr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675120" y="4206240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95160" y="4206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326880" y="4251960"/>
            <a:ext cx="2039815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2" name="Text 60"/>
          <p:cNvSpPr/>
          <p:nvPr/>
        </p:nvSpPr>
        <p:spPr>
          <a:xfrm>
            <a:off x="11439847" y="42062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₹1.45Cr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675120" y="4590288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95160" y="4590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9326880" y="4636008"/>
            <a:ext cx="2025748" cy="228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6" name="Text 64"/>
          <p:cNvSpPr/>
          <p:nvPr/>
        </p:nvSpPr>
        <p:spPr>
          <a:xfrm>
            <a:off x="11425780" y="45902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₹1.44Cr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· COHORT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Retention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3749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000000">
                <a:alpha val="1.2000000000000001e+9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C050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place more than one order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298448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000000">
                <a:alpha val="1.2e+9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3716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80560" y="18653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customers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322576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000000">
                <a:alpha val="1.2e+10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39572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2889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a second order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3346704"/>
            <a:ext cx="34747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000000">
                <a:alpha val="1.2e+10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34198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80560" y="3913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exactly once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298448"/>
            <a:ext cx="397764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000000">
                <a:alpha val="1.1999999999999999e+11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144475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 Comparison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920240"/>
            <a:ext cx="1737360" cy="2194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4187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₹1,37,682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49840" y="1097280"/>
            <a:ext cx="1737360" cy="301752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41879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₹3,11,035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0" y="111556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2.26×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7452360" cy="1170432"/>
          </a:xfrm>
          <a:prstGeom prst="roundRect">
            <a:avLst>
              <a:gd name="adj" fmla="val 4688"/>
            </a:avLst>
          </a:prstGeom>
          <a:solidFill>
            <a:srgbClr val="FFF8E7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000000">
                <a:alpha val="1.1999999999999998e+119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730752"/>
            <a:ext cx="7086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if just 10% of one-time buyers returned for a second purchase, that would add ≈ ₹1.5 Cr in incremental revenue — with near-zero acquisition cost.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Disproves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business assumptions were tested and found to lack statistical support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000000">
                <a:alpha val="1.1999999999999998e+12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8A93A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does NOT predict spend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 (Welch)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mean AOV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2606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₹1,41,807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008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mean AOV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3008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₹1,36,883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410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410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813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3813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2153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37560" y="42153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4663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take: avoid gender-based pricing or product targeting — the data shows no spending difference worth acting 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585216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000000">
                <a:alpha val="1.1999999999999998e+12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8A93A3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by volume, not price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One-tailed independent t-test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26060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AOV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72600" y="2606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₹1,43,442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30083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categories AOV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72600" y="30083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₹1,37,184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6520" y="34107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372600" y="3410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0.818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46520" y="38130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72600" y="3813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46520" y="42153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372600" y="42153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46520" y="4663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take: Electronics is worth protecting for volume reasons, not because it commands a meaningfully higher per-order price.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Finding That Changes Strategy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8463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000000">
                <a:alpha val="1.1999999999999998e+13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8A93A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508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tier is gender-blind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 test · χ² = 0.028 · p = 0.986 · df =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3042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tier (Low / Medium / High) distributes almost identically across Male and Female customers — p = 0.986 is essentially perfect independence. Gender-based campaign segmentation by tier will not improve targeting.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6537960" cy="4663440"/>
          </a:xfrm>
          <a:prstGeom prst="roundRect">
            <a:avLst>
              <a:gd name="adj" fmla="val 1176"/>
            </a:avLst>
          </a:prstGeom>
          <a:solidFill>
            <a:srgbClr val="FFF8E7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000000">
                <a:alpha val="1.1999999999999998e+13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9008" y="1508760"/>
            <a:ext cx="548640" cy="5486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1"/>
          <p:cNvSpPr/>
          <p:nvPr/>
        </p:nvSpPr>
        <p:spPr>
          <a:xfrm>
            <a:off x="5779008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1508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customers spend 2.26× more — statistically proven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79008" y="21488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 (Welch, one-tailed)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79008" y="25420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mean LTV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5420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₹3,11,035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79008" y="29992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mean LTV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29992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₹1,37,682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79008" y="34564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difference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0" y="34564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₹1,73,353 more per repeat customer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79008" y="39136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0" y="39136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6.622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79008" y="43708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0" y="43708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  (9.0 × 10⁻⁹)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79008" y="48280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0" y="482803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HIGHLY SIGNIFICANT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79008" y="542239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one-time customers converted to repeat = ≈ ₹1.7L additional revenue at zero acquisition cost.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Core KPIs — Defined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000000">
                <a:alpha val="1.1999999999999999e+14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90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90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417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801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SUM(Total_Sales)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94760" y="14904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₹13.94 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35040" y="1417320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growth; the primary success metric for the business period.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58568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000000">
                <a:alpha val="1.1999999999999998e+14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423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2350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27340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÷ Orders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94760" y="2423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₹1,39,399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0" y="2350008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upsell effectiveness; rising AOV with flat orders = healthy mix.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91256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000000">
                <a:alpha val="1.1999999999999998e+15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3558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3282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Purchase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36667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÷ Total Customers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94760" y="33558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35040" y="3282696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loyalty proxy; low value here signals acquisition-dependency risk.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123944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000000">
                <a:alpha val="1.1999999999999998e+15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4288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61872" y="42153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 — Repeat Segment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61872" y="4599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AVG(Lifetime Spend) for repeat customers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794760" y="42885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₹3,11,035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35040" y="4215384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the exact revenue premium of a retained customer vs a new one.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5056632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11439157936445e+136" dist="7.991789684226167e+135" dir="4.297676999371057e+159">
              <a:srgbClr val="000000">
                <a:alpha val="1.1999999999999998e+164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" y="52212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61872" y="51480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Concentration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61872" y="5532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% of total revenue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94760" y="52212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 Electronics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35040" y="5148072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dependency risk; one category shouldn't carry the whole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Actions, Ranked by Evidence Strength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FF8E7"/>
          </a:solidFill>
          <a:ln/>
          <a:effectLst>
            <a:outerShdw sx="100000" sy="100000" kx="0" ky="0" algn="bl" rotWithShape="0" blurRad="2.7065527730579285e+140" dist="1.0149572898967231e+140" dir="2.5786061996226343e+164">
              <a:srgbClr val="000000">
                <a:alpha val="1.1999999999999998e+16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490472"/>
            <a:ext cx="658368" cy="65836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904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81328" y="1490472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4B942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490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181965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Retention Programme (statistically proven — p &lt; 0.0001)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81328" y="2221992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generate ₹1,73,353 more per customer than one-timers. A loyalty scheme, follow-up email sequence, or repeat-purchase discount targeting the 895 one-time buyers is the single highest-ROI lever identified across all four tasks.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0" y="1490472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FF0CC"/>
          </a:solidFill>
          <a:ln/>
          <a:effectLst>
            <a:outerShdw sx="100000" sy="100000" kx="0" ky="0" algn="bl" rotWithShape="0" blurRad="3.4373220217835694e+144" dist="1.2889957581688384e+144" dir="1.5471637197735807e+169">
              <a:srgbClr val="000000">
                <a:alpha val="1.1999999999999997e+17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0" y="172821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2.26× LTV · p &lt; 0.0001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898648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53989676651333e+148" dist="1.6370246128744248e+148" dir="9.282982318641485e+173">
              <a:srgbClr val="000000">
                <a:alpha val="1.1999999999999996e+17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063240"/>
            <a:ext cx="658368" cy="6583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81328" y="30632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1481328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33924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Electronics Volume — It Drives 36.4% of Revenue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81328" y="379476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not through a price premium (H2 found no statistically significant AOV difference) but through order volume. Supplier relationships, stock availability, and competitive pricing for Electronics are business-critical.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0" y="3063240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5.54405668893472e+152" dist="2.0790212583505195e+152" dir="5.569789391184891e+178">
              <a:srgbClr val="000000">
                <a:alpha val="1.1999999999999996e+18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0" y="330098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₹5.08 Cr revenue · 354 orders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471416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040951994947093e+156" dist="2.64035699810516e+156" dir="3.3418736347109347e+183">
              <a:srgbClr val="000000">
                <a:alpha val="1.1999999999999995e+18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" y="4636008"/>
            <a:ext cx="658368" cy="658368"/>
          </a:xfrm>
          <a:prstGeom prst="ellipse">
            <a:avLst/>
          </a:prstGeom>
          <a:solidFill>
            <a:srgbClr val="8A93A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6360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81328" y="463600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8A93A3"/>
          </a:solidFill>
          <a:ln/>
        </p:spPr>
      </p:sp>
      <p:sp>
        <p:nvSpPr>
          <p:cNvPr id="27" name="Text 25"/>
          <p:cNvSpPr/>
          <p:nvPr/>
        </p:nvSpPr>
        <p:spPr>
          <a:xfrm>
            <a:off x="1481328" y="46360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81328" y="496519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Aug–Sep Revenue Dip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81328" y="536752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drops from ₹12.9M (June) to ₹9.2M (September). This seasonal pattern needs root-cause analysis — if it's predictable, proactive promotions or inventory adjustment in Q3 can defend against it next year.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0" y="4636008"/>
            <a:ext cx="2331720" cy="1078992"/>
          </a:xfrm>
          <a:prstGeom prst="roundRect">
            <a:avLst>
              <a:gd name="adj" fmla="val 5085"/>
            </a:avLst>
          </a:prstGeom>
          <a:solidFill>
            <a:srgbClr val="F2F5FB"/>
          </a:solidFill>
          <a:ln/>
          <a:effectLst>
            <a:outerShdw sx="100000" sy="100000" kx="0" ky="0" algn="bl" rotWithShape="0" blurRad="8.942009033582808e+160" dist="3.353253387593553e+160" dir="2.0051241808265608e+188">
              <a:srgbClr val="000000">
                <a:alpha val="1.1999999999999995e+19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0" y="487375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₹9.18M Sep vs ₹13.06M Mar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572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51560" y="1325880"/>
            <a:ext cx="12801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25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29260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325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325880"/>
            <a:ext cx="12801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325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371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325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11887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3258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55480" y="1325880"/>
            <a:ext cx="256032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13258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Conclusion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783080"/>
            <a:ext cx="457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178308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1560" y="1783080"/>
            <a:ext cx="1280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424" y="17830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23160" y="1783080"/>
            <a:ext cx="2926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78024" y="178308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vs Average Order Value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1783080"/>
            <a:ext cx="1280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17830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₹1,41,807 (M)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178308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17830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₹1,36,883 (F)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75320" y="1783080"/>
            <a:ext cx="1188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0184" y="178308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55480" y="17830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10344" y="17830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irrelevant for pricing strategy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2697480"/>
            <a:ext cx="45720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" y="269748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51560" y="2697480"/>
            <a:ext cx="128016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6424" y="26974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23160" y="2697480"/>
            <a:ext cx="292608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78024" y="269748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AOV vs Other categories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40680" y="2697480"/>
            <a:ext cx="128016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5544" y="26974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₹1,43,442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2697480"/>
            <a:ext cx="137160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67144" y="26974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₹1,37,184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2697480"/>
            <a:ext cx="118872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0184" y="269748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555480" y="2697480"/>
            <a:ext cx="256032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10344" y="26974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not price premium, drives dominance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3611880"/>
            <a:ext cx="457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" y="361188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51560" y="3611880"/>
            <a:ext cx="1280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06424" y="36118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χ²-test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423160" y="3611880"/>
            <a:ext cx="2926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78024" y="361188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tier independence from gender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40680" y="3611880"/>
            <a:ext cx="12801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95544" y="36118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12280" y="3611880"/>
            <a:ext cx="1371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67144" y="3611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275320" y="3611880"/>
            <a:ext cx="1188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30184" y="361188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555480" y="36118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10344" y="36118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distributed equally — no gender-tier link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4526280"/>
            <a:ext cx="45720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" y="4526280"/>
            <a:ext cx="347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51560" y="4526280"/>
            <a:ext cx="128016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6424" y="45262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423160" y="4526280"/>
            <a:ext cx="292608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78024" y="4526280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vs One-Time Lifetime Value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440680" y="4526280"/>
            <a:ext cx="128016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95544" y="4526280"/>
            <a:ext cx="1170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₹3,11,035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812280" y="4526280"/>
            <a:ext cx="137160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67144" y="45262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₹1,37,682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275320" y="4526280"/>
            <a:ext cx="118872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30184" y="4526280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&lt;0.0001 ✅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555480" y="4526280"/>
            <a:ext cx="2560320" cy="822960"/>
          </a:xfrm>
          <a:prstGeom prst="rect">
            <a:avLst/>
          </a:prstGeom>
          <a:solidFill>
            <a:srgbClr val="FFF8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610344" y="4526280"/>
            <a:ext cx="2450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retention — 2.26× LTV proven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02920" y="521208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for all tests  ·  Welch's t-test used (unequal variances assumed)  ·  One-tailed for directional hypotheses H2, H4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4114800"/>
            <a:ext cx="3657600" cy="36576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457200"/>
            <a:ext cx="2286000" cy="2286000"/>
          </a:xfrm>
          <a:prstGeom prst="ellipse">
            <a:avLst/>
          </a:prstGeom>
          <a:solidFill>
            <a:srgbClr val="F4B94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to Remember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2.26×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lifetime value multiplier of a repeat customer vs a one-time buyer — the single statistically proven, actionable finding of this analysis.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3657600" cy="36576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10058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Data Analytics Internship  ·  Tasks 1–4 complete  ·  FY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1,000 orders · 947 customers · 5 categories · 8 cities  ·  Statistical tests: Welch t-test × 3, Chi-squared ×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Sales Analytics — Final Presentation</dc:title>
  <dc:subject>PptxGenJS Presentation</dc:subject>
  <dc:creator>PptxGenJS</dc:creator>
  <cp:lastModifiedBy>PptxGenJS</cp:lastModifiedBy>
  <cp:revision>1</cp:revision>
  <dcterms:created xsi:type="dcterms:W3CDTF">2026-07-05T02:46:29Z</dcterms:created>
  <dcterms:modified xsi:type="dcterms:W3CDTF">2026-07-05T02:46:29Z</dcterms:modified>
</cp:coreProperties>
</file>